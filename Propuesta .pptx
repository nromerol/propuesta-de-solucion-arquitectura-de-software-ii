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embeddedFontLst>
    <p:embeddedFont>
      <p:font typeface="Corben"/>
      <p:regular r:id="rId18"/>
      <p:bold r:id="rId19"/>
    </p:embeddedFont>
    <p:embeddedFont>
      <p:font typeface="Nobil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DE1F2B-7CE0-4023-BD2C-582770C3C57B}">
  <a:tblStyle styleId="{32DE1F2B-7CE0-4023-BD2C-582770C3C57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6EF3755-0EBB-47F4-A689-1C126459262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bile-regular.fntdata"/><Relationship Id="rId11" Type="http://schemas.openxmlformats.org/officeDocument/2006/relationships/slide" Target="slides/slide6.xml"/><Relationship Id="rId22" Type="http://schemas.openxmlformats.org/officeDocument/2006/relationships/font" Target="fonts/Nobile-italic.fntdata"/><Relationship Id="rId10" Type="http://schemas.openxmlformats.org/officeDocument/2006/relationships/slide" Target="slides/slide5.xml"/><Relationship Id="rId21" Type="http://schemas.openxmlformats.org/officeDocument/2006/relationships/font" Target="fonts/Nobil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obil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rben-bold.fntdata"/><Relationship Id="rId6" Type="http://schemas.openxmlformats.org/officeDocument/2006/relationships/slide" Target="slides/slide1.xml"/><Relationship Id="rId18" Type="http://schemas.openxmlformats.org/officeDocument/2006/relationships/font" Target="fonts/Corbe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7064d9918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" name="Google Shape;18;g3f7064d9918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f7064d9918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7064d991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7064d991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7064d991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064d9918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7064d9918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7064d9918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064d991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7064d991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7064d9918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733338fdc_2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733338fdc_2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733338fdc_2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74cd9554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74cd955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74cd9554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74cd9554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74cd9554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74cd9554e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4cd9554e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74cd9554e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74cd9554e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064d9918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7064d9918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7064d9918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viewpoints-and-perspectives.info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486151" y="657725"/>
            <a:ext cx="3451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057"/>
              <a:buFont typeface="Corben"/>
              <a:buNone/>
            </a:pPr>
            <a:r>
              <a:rPr b="0" i="0" lang="en-US" sz="3057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¿Qué deben hacer?</a:t>
            </a:r>
            <a:endParaRPr b="0" i="0" sz="30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86152" y="1546176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chemeClr val="accent6"/>
                </a:solidFill>
                <a:latin typeface="Corben"/>
                <a:ea typeface="Corben"/>
                <a:cs typeface="Corben"/>
                <a:sym typeface="Corben"/>
              </a:rPr>
              <a:t>Identificación de estilos</a:t>
            </a:r>
            <a:endParaRPr b="0" i="0" sz="1847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86152" y="2000260"/>
            <a:ext cx="4998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chemeClr val="accent6"/>
                </a:solidFill>
                <a:latin typeface="Nobile"/>
                <a:ea typeface="Nobile"/>
                <a:cs typeface="Nobile"/>
                <a:sym typeface="Nobile"/>
              </a:rPr>
              <a:t>Realizar una presentación con slide sobre la diferencia real entre Cliente-Servidor, N-Capas y Microservicios.</a:t>
            </a:r>
            <a:endParaRPr b="0" i="0" sz="121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86152" y="2663708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chemeClr val="accent6"/>
                </a:solidFill>
                <a:latin typeface="Corben"/>
                <a:ea typeface="Corben"/>
                <a:cs typeface="Corben"/>
                <a:sym typeface="Corben"/>
              </a:rPr>
              <a:t>Atributos de Calidad</a:t>
            </a:r>
            <a:endParaRPr b="0" i="0" sz="1847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86152" y="3117792"/>
            <a:ext cx="4998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chemeClr val="accent6"/>
                </a:solidFill>
                <a:latin typeface="Nobile"/>
                <a:ea typeface="Nobile"/>
                <a:cs typeface="Nobile"/>
                <a:sym typeface="Nobile"/>
              </a:rPr>
              <a:t>En la misma presentación responder ¿Cómo impacta la disponibilidad o la escalabilidad en la elección de un estilo?.</a:t>
            </a:r>
            <a:endParaRPr b="0" i="0" sz="121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86152" y="3781242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chemeClr val="accent2"/>
                </a:solidFill>
                <a:latin typeface="Corben"/>
                <a:ea typeface="Corben"/>
                <a:cs typeface="Corben"/>
                <a:sym typeface="Corben"/>
              </a:rPr>
              <a:t>Terminología</a:t>
            </a:r>
            <a:endParaRPr b="0" i="0" sz="1847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86152" y="4235324"/>
            <a:ext cx="4998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chemeClr val="accent2"/>
                </a:solidFill>
                <a:latin typeface="Nobile"/>
                <a:ea typeface="Nobile"/>
                <a:cs typeface="Nobile"/>
                <a:sym typeface="Nobile"/>
              </a:rPr>
              <a:t>En la misma presentación realizar la definición de "vistas y perspectivas" según Rozanski &amp; Woods. Por favor tener en cuenta los requerimientos no funcionales.</a:t>
            </a:r>
            <a:endParaRPr b="0" i="0" sz="121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86152" y="5151548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rgbClr val="8E7CC3"/>
                </a:solidFill>
                <a:latin typeface="Corben"/>
                <a:ea typeface="Corben"/>
                <a:cs typeface="Corben"/>
                <a:sym typeface="Corben"/>
              </a:rPr>
              <a:t>Representación de necesidades</a:t>
            </a:r>
            <a:endParaRPr b="0" i="0" sz="1847" u="none" cap="none" strike="noStrike">
              <a:solidFill>
                <a:srgbClr val="8E7C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86150" y="5605475"/>
            <a:ext cx="49986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rgbClr val="8E7CC3"/>
                </a:solidFill>
                <a:latin typeface="Nobile"/>
                <a:ea typeface="Nobile"/>
                <a:cs typeface="Nobile"/>
                <a:sym typeface="Nobile"/>
              </a:rPr>
              <a:t>Identificar actores, restricciones y limitaciones del sistema</a:t>
            </a:r>
            <a:r>
              <a:rPr b="0" i="0" lang="en-US" sz="121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.</a:t>
            </a:r>
            <a:endParaRPr b="0" i="0" sz="12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876195" y="1546176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chemeClr val="accent6"/>
                </a:solidFill>
                <a:latin typeface="Corben"/>
                <a:ea typeface="Corben"/>
                <a:cs typeface="Corben"/>
                <a:sym typeface="Corben"/>
              </a:rPr>
              <a:t>Identificar</a:t>
            </a:r>
            <a:endParaRPr b="0" i="0" sz="1847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876195" y="2000260"/>
            <a:ext cx="4998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chemeClr val="accent6"/>
                </a:solidFill>
                <a:latin typeface="Nobile"/>
                <a:ea typeface="Nobile"/>
                <a:cs typeface="Nobile"/>
                <a:sym typeface="Nobile"/>
              </a:rPr>
              <a:t>¿Qué estilo arquitectural actual tiene la empresa y por qué es ineficiente según los atributos de calidad?. </a:t>
            </a:r>
            <a:endParaRPr b="0" i="0" sz="121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876195" y="2663708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chemeClr val="accent6"/>
                </a:solidFill>
                <a:latin typeface="Corben"/>
                <a:ea typeface="Corben"/>
                <a:cs typeface="Corben"/>
                <a:sym typeface="Corben"/>
              </a:rPr>
              <a:t>Diseñar propuesta de arquitectura</a:t>
            </a:r>
            <a:endParaRPr b="0" i="0" sz="1847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876195" y="3117792"/>
            <a:ext cx="4998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chemeClr val="accent6"/>
                </a:solidFill>
                <a:latin typeface="Nobile"/>
                <a:ea typeface="Nobile"/>
                <a:cs typeface="Nobile"/>
                <a:sym typeface="Nobile"/>
              </a:rPr>
              <a:t>Dibujar un diagrama de cajas y flechas que represente una solución cliente servidor, N-Capas o microservicios. </a:t>
            </a:r>
            <a:endParaRPr b="0" i="0" sz="121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876195" y="3781242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Diagramar</a:t>
            </a:r>
            <a:endParaRPr b="0" i="0" sz="18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876195" y="4235324"/>
            <a:ext cx="55809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Dibuje la estructura lógica de la solución. </a:t>
            </a:r>
            <a:endParaRPr b="0" i="0" sz="12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876195" y="4645999"/>
            <a:ext cx="4998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47"/>
              <a:buFont typeface="Corben"/>
              <a:buNone/>
            </a:pPr>
            <a:r>
              <a:rPr b="0" i="0" lang="en-US" sz="1847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Justificación</a:t>
            </a:r>
            <a:endParaRPr b="0" i="0" sz="18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76195" y="5100083"/>
            <a:ext cx="4998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0" i="0" lang="en-US" sz="121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Se realizará debate para explicar por qué eligieron ese estilo basándose en un atributo de calidad específico.</a:t>
            </a:r>
            <a:endParaRPr b="0" i="0" sz="12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527303" y="91441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Identificación</a:t>
            </a: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 de estilos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27303" y="1783090"/>
            <a:ext cx="3337500" cy="41604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2C4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847342" y="2148850"/>
            <a:ext cx="640200" cy="640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847342" y="214885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47342" y="292609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Cliente-Servidor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47342" y="3429010"/>
            <a:ext cx="2743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El cliente habla directo con el servidor (o la base de datos). Sin capas intermedias que separen responsabilidades.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47342" y="5440690"/>
            <a:ext cx="1463100" cy="365700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47342" y="544069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niveles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431791" y="1783090"/>
            <a:ext cx="3337500" cy="41604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2C4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751831" y="2148850"/>
            <a:ext cx="640200" cy="640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751831" y="214885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751831" y="292609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N-Capas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751831" y="3429010"/>
            <a:ext cx="2743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Presentación, lógica de negocio y datos viven en capas separadas. Nadie accede a la BD sin pasar por la capa de negocio.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751831" y="5440690"/>
            <a:ext cx="1463100" cy="3657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751831" y="544069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3+ niveles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327135" y="1783090"/>
            <a:ext cx="3337500" cy="41604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2C4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647175" y="2148850"/>
            <a:ext cx="640200" cy="6402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647175" y="214885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647175" y="292609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Microservicios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647175" y="3429010"/>
            <a:ext cx="2743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La aplicación se parte en servicios pequeños e independientes, cada uno con su propia responsabilidad y despliegue.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647175" y="5440690"/>
            <a:ext cx="1463100" cy="365700"/>
          </a:xfrm>
          <a:prstGeom prst="roundRect">
            <a:avLst>
              <a:gd fmla="val 50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8647175" y="544069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 servicios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¿Dónde vive la lógica de negocio y quién toca los datos?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6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{32DE1F2B-7CE0-4023-BD2C-582770C3C57B}</a:tableStyleId>
              </a:tblPr>
              <a:tblGrid>
                <a:gridCol w="2377450"/>
                <a:gridCol w="2898650"/>
                <a:gridCol w="2898650"/>
                <a:gridCol w="2898650"/>
              </a:tblGrid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Cliente-Servidor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N-Capas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Microservicios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Lógica de negocio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Dispersa (cliente y/o BD)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Centralizada en una capa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Distribuida por servicio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Acceso a la BD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 desde el cliente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Solo vía capa de negocio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Cada servicio, su propia data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Escalabilidad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Baja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 (por capa completa)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 (por servicio)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Baja (BD expuesta)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 (BD protegida)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Alta, más superficie de ataque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Complejidad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Baja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6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fmla="val 7059" name="adj"/>
            </a:avLst>
          </a:prstGeom>
          <a:solidFill>
            <a:srgbClr val="E9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822960" y="57150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Idea clave:  </a:t>
            </a: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es cuántas capas tiene, es dónde vive la responsabilidad de la lógica y quién puede tocar los datos directamente.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548640" y="36576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El estilo actual de Central Logistics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48640" y="91440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Cliente-Servidor de 2 niveles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14400" y="1920240"/>
            <a:ext cx="2743200" cy="11886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C42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14400" y="1920240"/>
            <a:ext cx="274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App móvil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(repartidores)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8503920" y="1920240"/>
            <a:ext cx="2743200" cy="1188600"/>
          </a:xfrm>
          <a:prstGeom prst="roundRect">
            <a:avLst>
              <a:gd fmla="val 6154" name="adj"/>
            </a:avLst>
          </a:prstGeom>
          <a:solidFill>
            <a:srgbClr val="21295C"/>
          </a:solidFill>
          <a:ln>
            <a:noFill/>
          </a:ln>
          <a:effectLst>
            <a:outerShdw blurRad="76200" rotWithShape="0" algn="bl" dir="5400000" dist="25400">
              <a:srgbClr val="1A2C42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8503920" y="1920240"/>
            <a:ext cx="2743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centralizada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7"/>
          <p:cNvCxnSpPr/>
          <p:nvPr/>
        </p:nvCxnSpPr>
        <p:spPr>
          <a:xfrm>
            <a:off x="3657600" y="2514600"/>
            <a:ext cx="484620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" name="Google Shape;86;p7"/>
          <p:cNvSpPr/>
          <p:nvPr/>
        </p:nvSpPr>
        <p:spPr>
          <a:xfrm>
            <a:off x="3657600" y="260604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Conexión directa — sin capa intermedia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914400" y="3429000"/>
            <a:ext cx="2743200" cy="822900"/>
          </a:xfrm>
          <a:prstGeom prst="roundRect">
            <a:avLst>
              <a:gd fmla="val 6667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1051560" y="342900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Lógica de negocio dispersa: parte en la app, parte en procedimientos almacenados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48640" y="4663440"/>
            <a:ext cx="110643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Evidencia en el caso:  </a:t>
            </a: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“Los repartidores usan una aplicación móvil que se comunica directamente con una base de datos centralizada, pero la lógica de negocio está dispersa entre el código de la app y algunos procedimientos almacenados.”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563840" y="937235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¿Por qué es ineficiente según los atributos de calidad?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63840" y="1805915"/>
            <a:ext cx="502800" cy="502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563840" y="1805915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249640" y="1760195"/>
            <a:ext cx="219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Escalabilidad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3535640" y="1760195"/>
            <a:ext cx="8092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Necesita: </a:t>
            </a:r>
            <a:r>
              <a:rPr b="0" i="0" lang="en-US" sz="11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Soportar +300% de tráfico en temporada de descuentos.  </a:t>
            </a: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Problema: </a:t>
            </a:r>
            <a:r>
              <a:rPr b="0" i="0" lang="en-US" sz="11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Un modelo de 2 niveles escala verticalmente (más recursos al mismo servidor/BD); no distribuye la carga, así que un pico de tráfico satura el único punto de acceso a los datos.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563840" y="3268955"/>
            <a:ext cx="502800" cy="502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563840" y="3268955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249640" y="3223235"/>
            <a:ext cx="219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Mantenibilidad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3535640" y="3223235"/>
            <a:ext cx="8092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Necesita: </a:t>
            </a:r>
            <a:r>
              <a:rPr b="0" i="0" lang="en-US" sz="11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Un cambio en la lógica de negocio no debería obligar a actualizar todas las apps.  </a:t>
            </a: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Problema: </a:t>
            </a:r>
            <a:r>
              <a:rPr b="0" i="0" lang="en-US" sz="11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 estar la lógica dispersa entre la app y procedimientos almacenados, cada cambio de reglas de negocio implica tocar dos lugares distintos y redistribuir la app a todos los repartidores.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563840" y="4731995"/>
            <a:ext cx="502800" cy="502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563840" y="4731995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249640" y="4686275"/>
            <a:ext cx="219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Seguridad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3535640" y="4686275"/>
            <a:ext cx="8092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Necesita: </a:t>
            </a:r>
            <a:r>
              <a:rPr b="0" i="0" lang="en-US" sz="11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Ningún dispositivo externo debe acceder directamente a la base de datos.  </a:t>
            </a: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Problema: </a:t>
            </a:r>
            <a:r>
              <a:rPr b="0" i="0" lang="en-US" sz="11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 Cliente-Servidor la app se conecta directo a la BD centralizada: cualquier dispositivo comprometido es una puerta abierta a los datos de la empresa.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/>
          <p:nvPr/>
        </p:nvSpPr>
        <p:spPr>
          <a:xfrm>
            <a:off x="556240" y="469235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Disponibilidad y escalabilidad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71440" y="1303115"/>
            <a:ext cx="5394900" cy="3246000"/>
          </a:xfrm>
          <a:prstGeom prst="roundRect">
            <a:avLst>
              <a:gd fmla="val 2254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1A2C42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571440" y="1303115"/>
            <a:ext cx="5394900" cy="7320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891480" y="1531715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Escalabilidad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891480" y="1988915"/>
            <a:ext cx="475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Capacidad del sistema para absorber más carga (usuarios, peticiones) sin degradar el rendimiento.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891480" y="2857595"/>
            <a:ext cx="4755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Un pico </a:t>
            </a: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que presente </a:t>
            </a: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 temporada de descuentos exige repartir la carga entre varias instancias. Cliente-Servidor solo escala verticalmente, lo que tiene techo. N-Capas permite escalar horizontalmente la capa de negocio replicando instancias.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057840" y="1303115"/>
            <a:ext cx="5394900" cy="3246000"/>
          </a:xfrm>
          <a:prstGeom prst="roundRect">
            <a:avLst>
              <a:gd fmla="val 2254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1A2C42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6057840" y="1303115"/>
            <a:ext cx="5394900" cy="73200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6377880" y="1531715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Disponibilidad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377880" y="1988915"/>
            <a:ext cx="475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Probabilidad de que el sistema esté operativo y respondiendo cuando se le necesita.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377880" y="2857595"/>
            <a:ext cx="4755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 Cliente-Servidor, si el único servidor/BD cae, todo el sistema cae con él (punto único de falla). Con varias instancias de la capa de negocio detrás de un balanceador, una falla no tumba el sistema completo.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71440" y="4777835"/>
            <a:ext cx="11064300" cy="1234500"/>
          </a:xfrm>
          <a:prstGeom prst="roundRect">
            <a:avLst>
              <a:gd fmla="val 5926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891480" y="4777835"/>
            <a:ext cx="10424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C7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C7A8"/>
                </a:solidFill>
                <a:latin typeface="Calibri"/>
                <a:ea typeface="Calibri"/>
                <a:cs typeface="Calibri"/>
                <a:sym typeface="Calibri"/>
              </a:rPr>
              <a:t>Conclusión: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estos dos atributos, más que una preferencia de diseño, son la razón técnica que empuja a Central Logistics a dejar Cliente-Servidor y adoptar N-Capas: una capa de negocio centralizada y replicable, capaz de escalar y absorber fallas sin caer por completo.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548640" y="36576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Vistas y Perspectivas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22175" y="1447950"/>
            <a:ext cx="5463900" cy="3246000"/>
          </a:xfrm>
          <a:prstGeom prst="roundRect">
            <a:avLst>
              <a:gd fmla="val 2254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1A2C42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539815" y="1374740"/>
            <a:ext cx="5394900" cy="73200"/>
          </a:xfrm>
          <a:prstGeom prst="roundRect">
            <a:avLst>
              <a:gd fmla="val 16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842205" y="1676540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Vistas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078597" y="1447950"/>
            <a:ext cx="5463900" cy="3246000"/>
          </a:xfrm>
          <a:prstGeom prst="roundRect">
            <a:avLst>
              <a:gd fmla="val 2254" name="adj"/>
            </a:avLst>
          </a:prstGeom>
          <a:solidFill>
            <a:srgbClr val="F4F7F9"/>
          </a:solidFill>
          <a:ln>
            <a:noFill/>
          </a:ln>
          <a:effectLst>
            <a:outerShdw blurRad="76200" rotWithShape="0" algn="bl" dir="5400000" dist="25400">
              <a:srgbClr val="1A2C42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123304" y="1374740"/>
            <a:ext cx="5394900" cy="73200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6328605" y="1676540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Perspectivas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478040" y="4887385"/>
            <a:ext cx="11064300" cy="1234500"/>
          </a:xfrm>
          <a:prstGeom prst="roundRect">
            <a:avLst>
              <a:gd fmla="val 5926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661975" y="4887375"/>
            <a:ext cx="10759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Conclusión: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 vistas y perspectivas tienen una relación estrecha, ya que tratan temas relativos a la arquitectura de un sistema. Sin embargo, las perspectivas  pueden entenderse como algo transversal a las vistas y puntos de vista, ya que permiten modificar las vistas existentes, y constituyen los atributos de calidad.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Fuente: Rozanski, N., &amp; Woods, E. (s.f.). </a:t>
            </a:r>
            <a:r>
              <a:rPr i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Systems Architecture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https://www.viewpoints-and-perspectives.info/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842206" y="2362350"/>
            <a:ext cx="4755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Según Rozanski y Woods, una vista es una representación de uno o más aspectos estructurales de una arquitectura, que muestra la forma en que la arquitectura gestiona una o más preocupaciones manifestados por uno o varios stakeholders. El concepto va ligado al de punto de vista, que es un conjunto de patrones, plantillas y convenciones para construir un tipo de vista (Rozanski &amp; Woods).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6328606" y="2469850"/>
            <a:ext cx="4755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 acuerdo con Rozanski y Woods, una perspectiva es un conjunto de actividades, tácticas y lineamientos que se usan para garantizar que un sistema cumple con unas propiedades de calidad determinadas. Se pueden entender como los atributos de calidad de un sistema (requerimientos no funcionales).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/>
          <p:nvPr/>
        </p:nvSpPr>
        <p:spPr>
          <a:xfrm>
            <a:off x="0" y="365750"/>
            <a:ext cx="12192000" cy="6402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210"/>
              <a:buFont typeface="Nobile"/>
              <a:buNone/>
            </a:pPr>
            <a:r>
              <a:rPr b="1" lang="en-US" sz="261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lang="en-US" sz="261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ctores</a:t>
            </a:r>
            <a:endParaRPr b="1" i="0" sz="4000" u="none" cap="none" strike="noStrike">
              <a:solidFill>
                <a:srgbClr val="2129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2607" l="544" r="613" t="2928"/>
          <a:stretch/>
        </p:blipFill>
        <p:spPr>
          <a:xfrm>
            <a:off x="217425" y="1485000"/>
            <a:ext cx="11899150" cy="45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/>
        </p:nvSpPr>
        <p:spPr>
          <a:xfrm>
            <a:off x="0" y="554450"/>
            <a:ext cx="12192000" cy="5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estricciones</a:t>
            </a:r>
            <a:r>
              <a:rPr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600">
              <a:solidFill>
                <a:srgbClr val="2129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56" name="Google Shape;156;p12"/>
          <p:cNvGraphicFramePr/>
          <p:nvPr/>
        </p:nvGraphicFramePr>
        <p:xfrm>
          <a:off x="454950" y="155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{26EF3755-0EBB-47F4-A689-1C1264592626}</a:tableStyleId>
              </a:tblPr>
              <a:tblGrid>
                <a:gridCol w="3727525"/>
                <a:gridCol w="3372100"/>
                <a:gridCol w="4082950"/>
              </a:tblGrid>
              <a:tr h="66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Restricciòn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¿Por què?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Escalabilidad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Soportar +300% de tráfico en temporadas de descuento 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Es una condición que el sistema debe cumplir a futuro (una exigencia de diseño), no un problema actual 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Mantenibilidad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Lógica de negocio centralizada, no dispersa en cada app 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Exige cómo se debe construir el sistema para que sea fácil de actualizar 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Seguridad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Ningún dispositivo externo con acceso directo a la BD 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Regla dura de protección de datos, no negociable 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/>
        </p:nvSpPr>
        <p:spPr>
          <a:xfrm>
            <a:off x="0" y="554450"/>
            <a:ext cx="12192000" cy="585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Limitaciones</a:t>
            </a:r>
            <a:endParaRPr sz="2600">
              <a:solidFill>
                <a:srgbClr val="21295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871375" y="1728250"/>
            <a:ext cx="4023300" cy="2216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8">
                <a:latin typeface="Cambria"/>
                <a:ea typeface="Cambria"/>
                <a:cs typeface="Cambria"/>
                <a:sym typeface="Cambria"/>
              </a:rPr>
              <a:t>Acceso directo a la base de datos</a:t>
            </a:r>
            <a:r>
              <a:rPr b="1" lang="en-US" sz="1548"/>
              <a:t> </a:t>
            </a:r>
            <a:endParaRPr b="1" sz="154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4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8">
                <a:latin typeface="Cambria"/>
                <a:ea typeface="Cambria"/>
                <a:cs typeface="Cambria"/>
                <a:sym typeface="Cambria"/>
              </a:rPr>
              <a:t>La aplicación móvil se comunica directamente con la base de datos, generando una limitación de seguridad y control de acceso. </a:t>
            </a:r>
            <a:endParaRPr sz="1548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6895150" y="1728250"/>
            <a:ext cx="3878400" cy="2216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7425" lIns="97425" spcFirstLastPara="1" rIns="97425" wrap="square" tIns="9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>
                <a:latin typeface="Cambria"/>
                <a:ea typeface="Cambria"/>
                <a:cs typeface="Cambria"/>
                <a:sym typeface="Cambria"/>
              </a:rPr>
              <a:t>Lógica de negocio dispersa</a:t>
            </a:r>
            <a:r>
              <a:rPr lang="en-US" sz="1492">
                <a:latin typeface="Cambria"/>
                <a:ea typeface="Cambria"/>
                <a:cs typeface="Cambria"/>
                <a:sym typeface="Cambria"/>
              </a:rPr>
              <a:t> </a:t>
            </a:r>
            <a:endParaRPr sz="1492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2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2">
                <a:latin typeface="Cambria"/>
                <a:ea typeface="Cambria"/>
                <a:cs typeface="Cambria"/>
                <a:sym typeface="Cambria"/>
              </a:rPr>
              <a:t>La lógica de negocio está distribuida entre las aplicaciones y procedimientos almacenados, aumentando la complejidad del sistema. </a:t>
            </a:r>
            <a:endParaRPr sz="1492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871375" y="4249814"/>
            <a:ext cx="4023300" cy="2216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101075" lIns="101075" spcFirstLastPara="1" rIns="101075" wrap="square" tIns="101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8"/>
              <a:t>Dependencia entre las aplicaciones y la lógica</a:t>
            </a:r>
            <a:r>
              <a:rPr b="1" lang="en-US" sz="1548"/>
              <a:t> </a:t>
            </a:r>
            <a:endParaRPr b="1" sz="154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8"/>
              <a:t>Los cambios en la lógica pueden requerir modificaciones en las aplicaciones de los repartidores, dificultando el mantenimiento. </a:t>
            </a:r>
            <a:endParaRPr sz="1548"/>
          </a:p>
        </p:txBody>
      </p:sp>
      <p:sp>
        <p:nvSpPr>
          <p:cNvPr id="166" name="Google Shape;166;p13"/>
          <p:cNvSpPr txBox="1"/>
          <p:nvPr/>
        </p:nvSpPr>
        <p:spPr>
          <a:xfrm>
            <a:off x="6895150" y="4249825"/>
            <a:ext cx="3878400" cy="221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7425" lIns="97425" spcFirstLastPara="1" rIns="97425" wrap="square" tIns="9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92"/>
              <a:t>Escalabilidad del sistema</a:t>
            </a:r>
            <a:r>
              <a:rPr lang="en-US" sz="1492"/>
              <a:t> </a:t>
            </a:r>
            <a:endParaRPr sz="149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2"/>
              <a:t>El crecimiento del tráfico hasta un 300% representa un desafío para la capacidad de respuesta y escalabilidad del sistema actual </a:t>
            </a:r>
            <a:endParaRPr sz="1492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/>
          <p:nvPr/>
        </p:nvSpPr>
        <p:spPr>
          <a:xfrm>
            <a:off x="1191355" y="1380875"/>
            <a:ext cx="237750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587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/>
          <p:nvPr/>
        </p:nvSpPr>
        <p:spPr>
          <a:xfrm>
            <a:off x="1191355" y="1380875"/>
            <a:ext cx="237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App móvil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repartidores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14"/>
          <p:cNvCxnSpPr/>
          <p:nvPr/>
        </p:nvCxnSpPr>
        <p:spPr>
          <a:xfrm>
            <a:off x="2380075" y="2066675"/>
            <a:ext cx="0" cy="320100"/>
          </a:xfrm>
          <a:prstGeom prst="straightConnector1">
            <a:avLst/>
          </a:prstGeom>
          <a:noFill/>
          <a:ln cap="flat" cmpd="sng" w="22225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" name="Google Shape;175;p14"/>
          <p:cNvSpPr/>
          <p:nvPr/>
        </p:nvSpPr>
        <p:spPr>
          <a:xfrm>
            <a:off x="4300315" y="1380875"/>
            <a:ext cx="237750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587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4300315" y="1380875"/>
            <a:ext cx="237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App web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4"/>
          <p:cNvCxnSpPr/>
          <p:nvPr/>
        </p:nvCxnSpPr>
        <p:spPr>
          <a:xfrm>
            <a:off x="5489035" y="2066675"/>
            <a:ext cx="0" cy="320100"/>
          </a:xfrm>
          <a:prstGeom prst="straightConnector1">
            <a:avLst/>
          </a:prstGeom>
          <a:noFill/>
          <a:ln cap="flat" cmpd="sng" w="22225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p14"/>
          <p:cNvSpPr/>
          <p:nvPr/>
        </p:nvSpPr>
        <p:spPr>
          <a:xfrm>
            <a:off x="7409275" y="1380875"/>
            <a:ext cx="237750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587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7409275" y="1380875"/>
            <a:ext cx="237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App cliente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rastreo pedido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4"/>
          <p:cNvCxnSpPr/>
          <p:nvPr/>
        </p:nvCxnSpPr>
        <p:spPr>
          <a:xfrm>
            <a:off x="8597995" y="2066675"/>
            <a:ext cx="0" cy="320100"/>
          </a:xfrm>
          <a:prstGeom prst="straightConnector1">
            <a:avLst/>
          </a:prstGeom>
          <a:noFill/>
          <a:ln cap="flat" cmpd="sng" w="22225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14"/>
          <p:cNvSpPr/>
          <p:nvPr/>
        </p:nvSpPr>
        <p:spPr>
          <a:xfrm>
            <a:off x="642715" y="2432435"/>
            <a:ext cx="11064300" cy="594300"/>
          </a:xfrm>
          <a:prstGeom prst="roundRect">
            <a:avLst>
              <a:gd fmla="val 1076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642715" y="2432435"/>
            <a:ext cx="1106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Presentación  —  expone API REST, valida y formatea peticiones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4"/>
          <p:cNvCxnSpPr/>
          <p:nvPr/>
        </p:nvCxnSpPr>
        <p:spPr>
          <a:xfrm>
            <a:off x="6174835" y="3026795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14"/>
          <p:cNvSpPr/>
          <p:nvPr/>
        </p:nvSpPr>
        <p:spPr>
          <a:xfrm>
            <a:off x="642715" y="3301115"/>
            <a:ext cx="11064300" cy="1143000"/>
          </a:xfrm>
          <a:prstGeom prst="roundRect">
            <a:avLst>
              <a:gd fmla="val 56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871315" y="3374267"/>
            <a:ext cx="106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Lógica de Negocio  —  centraliza TODAS las reglas del negocio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917035" y="3758315"/>
            <a:ext cx="2469000" cy="5943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917035" y="3758315"/>
            <a:ext cx="246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Gestión de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Pedidos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3614515" y="3758315"/>
            <a:ext cx="2469000" cy="5943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3614515" y="3758315"/>
            <a:ext cx="246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Rastreo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(GPS)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6311995" y="3758315"/>
            <a:ext cx="2469000" cy="5943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6311995" y="3758315"/>
            <a:ext cx="246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Gestión de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9009475" y="3758315"/>
            <a:ext cx="2469000" cy="5943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9009475" y="3758315"/>
            <a:ext cx="246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4"/>
          <p:cNvCxnSpPr/>
          <p:nvPr/>
        </p:nvCxnSpPr>
        <p:spPr>
          <a:xfrm>
            <a:off x="6174835" y="4444115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14"/>
          <p:cNvSpPr/>
          <p:nvPr/>
        </p:nvSpPr>
        <p:spPr>
          <a:xfrm>
            <a:off x="642715" y="4718435"/>
            <a:ext cx="11064300" cy="594300"/>
          </a:xfrm>
          <a:prstGeom prst="roundRect">
            <a:avLst>
              <a:gd fmla="val 10769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642715" y="4718435"/>
            <a:ext cx="1106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Acceso a Datos  —  único punto de entrada/salida hacia la base de datos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14"/>
          <p:cNvCxnSpPr/>
          <p:nvPr/>
        </p:nvCxnSpPr>
        <p:spPr>
          <a:xfrm>
            <a:off x="6174835" y="5312795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14"/>
          <p:cNvSpPr/>
          <p:nvPr/>
        </p:nvSpPr>
        <p:spPr>
          <a:xfrm>
            <a:off x="4574635" y="5632835"/>
            <a:ext cx="3200400" cy="502800"/>
          </a:xfrm>
          <a:prstGeom prst="roundRect">
            <a:avLst>
              <a:gd fmla="val 45455" name="adj"/>
            </a:avLst>
          </a:prstGeom>
          <a:solidFill>
            <a:srgbClr val="FFFFFF"/>
          </a:solidFill>
          <a:ln cap="flat" cmpd="sng" w="1905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>
            <a:off x="4574635" y="5632835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Base de datos centralizada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548640" y="36576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Solución</a:t>
            </a:r>
            <a:r>
              <a:rPr b="1" lang="en-US" sz="2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 propuesta: arquitectura N-Capas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